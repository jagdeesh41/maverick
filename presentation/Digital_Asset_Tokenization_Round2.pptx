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frontend-546876428098.asia-south1.run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6F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6FFC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ASSET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— Progress, Architecture &amp; Roadmap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Number 24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Palwinder Singh Pugtana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024731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914400"/>
            <a:ext cx="2834640" cy="2834640"/>
          </a:xfrm>
          <a:prstGeom prst="ellipse">
            <a:avLst/>
          </a:prstGeom>
          <a:solidFill>
            <a:srgbClr val="00855D"/>
          </a:solidFill>
          <a:ln/>
        </p:spPr>
      </p:sp>
      <p:sp>
        <p:nvSpPr>
          <p:cNvPr id="9" name="Shape 7"/>
          <p:cNvSpPr/>
          <p:nvPr/>
        </p:nvSpPr>
        <p:spPr>
          <a:xfrm>
            <a:off x="9464040" y="3291840"/>
            <a:ext cx="1463040" cy="1463040"/>
          </a:xfrm>
          <a:prstGeom prst="ellipse">
            <a:avLst/>
          </a:prstGeom>
          <a:solidFill>
            <a:srgbClr val="C6FFC5"/>
          </a:solidFill>
          <a:ln/>
        </p:spPr>
      </p:sp>
      <p:sp>
        <p:nvSpPr>
          <p:cNvPr id="10" name="Shape 8"/>
          <p:cNvSpPr/>
          <p:nvPr/>
        </p:nvSpPr>
        <p:spPr>
          <a:xfrm>
            <a:off x="9052560" y="484632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7EFE8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Stand: From Proposal to Prototype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EEF8EE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2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single, trusted, and intelligent platform for digital asset ownership, management, and lifecycle automation — secure and programmable, on blockchain-based tokenisation.”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971800"/>
            <a:ext cx="3575304" cy="2651760"/>
          </a:xfrm>
          <a:prstGeom prst="roundRect">
            <a:avLst>
              <a:gd name="adj" fmla="val 2759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3118104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Universal Ledger, connected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3447288"/>
            <a:ext cx="3172968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our last update we wired in the actual Google Cloud Universal Ledger — no more mock adapter standing in for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06824" y="2971800"/>
            <a:ext cx="3575304" cy="2651760"/>
          </a:xfrm>
          <a:prstGeom prst="roundRect">
            <a:avLst>
              <a:gd name="adj" fmla="val 2759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3118104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asset lifecycle, on-ledger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7992" y="3447288"/>
            <a:ext cx="3172968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→ confirm → hold → transfer → freeze → dispute-freeze, each enforced by a real smart contract on the ledger, not a mock button.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0728" y="2971800"/>
            <a:ext cx="3575304" cy="2651760"/>
          </a:xfrm>
          <a:prstGeom prst="roundRect">
            <a:avLst>
              <a:gd name="adj" fmla="val 2759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3118104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still know exactly where the gaps 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11896" y="3447288"/>
            <a:ext cx="3172968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names them on purpose, throughout, instead of hoping nobody asks.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13 — Problem Statement #24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88752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7EFE8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POTENTIAL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Built: Feature Walkthrough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74650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Authorization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36392" y="1764792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00855D"/>
          </a:solidFill>
          <a:ln/>
        </p:spPr>
      </p:sp>
      <p:sp>
        <p:nvSpPr>
          <p:cNvPr id="8" name="Text 6"/>
          <p:cNvSpPr/>
          <p:nvPr/>
        </p:nvSpPr>
        <p:spPr>
          <a:xfrm>
            <a:off x="3136392" y="176479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4088" y="2130552"/>
            <a:ext cx="31912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auth layer sits in front of every action; the login mimics how a customer would actually experience this inside a live banking app.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0" y="160020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74650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BankChain Assistant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31152" y="1764792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00855D"/>
          </a:solidFill>
          <a:ln/>
        </p:spPr>
      </p:sp>
      <p:sp>
        <p:nvSpPr>
          <p:cNvPr id="13" name="Text 11"/>
          <p:cNvSpPr/>
          <p:nvPr/>
        </p:nvSpPr>
        <p:spPr>
          <a:xfrm>
            <a:off x="6931152" y="176479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98848" y="2130552"/>
            <a:ext cx="31912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chatbot, answers strictly scoped to BankChain / asset-tokenization questions, with graceful fallback if unreachable.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92440" y="160020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74650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Auto-Tokenization on Consent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725912" y="1764792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00855D"/>
          </a:solidFill>
          <a:ln/>
        </p:spPr>
      </p:sp>
      <p:sp>
        <p:nvSpPr>
          <p:cNvPr id="18" name="Text 16"/>
          <p:cNvSpPr/>
          <p:nvPr/>
        </p:nvSpPr>
        <p:spPr>
          <a:xfrm>
            <a:off x="10725912" y="176479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93608" y="2130552"/>
            <a:ext cx="31912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Bank-held assets tokenize automatically once the customer consents; external assets tokenize via submitted proof — deployed as a real contract on Universal Ledger.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374136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520440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KYC-Gated Transfer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36392" y="3538728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00855D"/>
          </a:solidFill>
          <a:ln/>
        </p:spPr>
      </p:sp>
      <p:sp>
        <p:nvSpPr>
          <p:cNvPr id="23" name="Text 21"/>
          <p:cNvSpPr/>
          <p:nvPr/>
        </p:nvSpPr>
        <p:spPr>
          <a:xfrm>
            <a:off x="3136392" y="353872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4088" y="3904488"/>
            <a:ext cx="31912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can only transfer to a buyer whose KYC is attested on-ledger by the RM — the contract itself rejects it otherwise, not just a UI warning.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3374136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3520440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Token &amp; Inheritance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31152" y="3538728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00855D"/>
          </a:solidFill>
          <a:ln/>
        </p:spPr>
      </p:sp>
      <p:sp>
        <p:nvSpPr>
          <p:cNvPr id="28" name="Text 26"/>
          <p:cNvSpPr/>
          <p:nvPr/>
        </p:nvSpPr>
        <p:spPr>
          <a:xfrm>
            <a:off x="6931152" y="353872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98848" y="3904488"/>
            <a:ext cx="31912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mints a new tokenized asset and defines nominees / inheritance rules on it — a digital will.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92440" y="3374136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3608" y="3520440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Storage on Google Cloud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725912" y="3538728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00855D"/>
          </a:solidFill>
          <a:ln/>
        </p:spPr>
      </p:sp>
      <p:sp>
        <p:nvSpPr>
          <p:cNvPr id="33" name="Text 31"/>
          <p:cNvSpPr/>
          <p:nvPr/>
        </p:nvSpPr>
        <p:spPr>
          <a:xfrm>
            <a:off x="10725912" y="353872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93608" y="3904488"/>
            <a:ext cx="31912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proof document (KYC, asset, transfer, claim) now lives in a private Cloud Storage bucket behind a signed URL — no more base64 blobs in the database.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5193792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real, clickable flow backed by an API and a live smart contract — not a mockup.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13 — Problem Statement #24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88752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7EFE8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POTENTIAL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Coverage: Proposed vs. Built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311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7342632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3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&amp; Tokenization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Google Cloud Universal Ledger, connected — one BankChainAsset smart contract deployed per issued asset, not a mock.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Permissioned Token Ledger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mint / transfer / freeze / dispute is a real on-ledger transaction, mirrored to an immutable, timestamped audit row.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&amp; Blockchain Connectivity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Profile-switched adapter (mock ↔ real GCUL via ul-cli/Docker) with graceful degrade if the rules engine is unreachable.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Trust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+ RBAC + Cloud KMS asymmetric signing key per ledger account now real; mTLS / secrets vault / formal pen test still open.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&amp; Access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Bearer-token auth + role-gated RM routes shipped; MFA / SSO / eKYC not built.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&amp; Business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Onboarding, transfer orchestration, compliance engine, notifications live; Valuation / LTV engine missing.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+ RM web portal live; no mobile app or partner API surface yet.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&amp; Intelligence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5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 basic portfolio dashboard exists — no LTV, Multi-AVM, or anomaly detection.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Systems &amp; External Ecosystem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5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banking, payments, regulators still mocked internally; Cloud Storage is the first real external integration live.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13 — Problem Statement #24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88752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7EFE8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Flow: How It Actually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issuing an asset and transferring it — the same path every action in the app takes.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986784" cy="502920"/>
          </a:xfrm>
          <a:prstGeom prst="roundRect">
            <a:avLst>
              <a:gd name="adj" fmla="val 10909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65376"/>
            <a:ext cx="3767328" cy="276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12648" y="2080260"/>
            <a:ext cx="3767328" cy="241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Issue, transfer, inherit, recover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654296" y="1828800"/>
            <a:ext cx="3986784" cy="502920"/>
          </a:xfrm>
          <a:prstGeom prst="roundRect">
            <a:avLst>
              <a:gd name="adj" fmla="val 10909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4024" y="1865376"/>
            <a:ext cx="3767328" cy="276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Portal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64024" y="2080260"/>
            <a:ext cx="3767328" cy="241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confirm, freeze, audit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REST + Bearer Token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02920" y="2569464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606040"/>
            <a:ext cx="7918704" cy="276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— Controllers → Services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2648" y="2820924"/>
            <a:ext cx="7918704" cy="241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AssetService / TransferService / KycService / InheritanceService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2920" y="307238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Fast off-chain pre-check, before touching cloud infra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3310128"/>
            <a:ext cx="2602992" cy="658368"/>
          </a:xfrm>
          <a:prstGeom prst="roundRect">
            <a:avLst>
              <a:gd name="adj" fmla="val 8333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346704"/>
            <a:ext cx="2383536" cy="362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Rules Engine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648" y="3639312"/>
            <a:ext cx="2383536" cy="3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early if the rule already fails — no wasted ledger call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70504" y="3310128"/>
            <a:ext cx="2602992" cy="658368"/>
          </a:xfrm>
          <a:prstGeom prst="roundRect">
            <a:avLst>
              <a:gd name="adj" fmla="val 8333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0232" y="3346704"/>
            <a:ext cx="2383536" cy="362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Storage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80232" y="3639312"/>
            <a:ext cx="2383536" cy="3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docs, private bucket, signed URLs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038088" y="3310128"/>
            <a:ext cx="2602992" cy="658368"/>
          </a:xfrm>
          <a:prstGeom prst="roundRect">
            <a:avLst>
              <a:gd name="adj" fmla="val 8333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7816" y="3346704"/>
            <a:ext cx="2383536" cy="362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KMS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47816" y="3639312"/>
            <a:ext cx="2383536" cy="3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signing key per customer ledger account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2920" y="3968496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ul-cli via Docker — CreateContract / Invoke transactions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02920" y="420624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024731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4242816"/>
            <a:ext cx="7918704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Ledger (GCUL) — BankChainAsset Smart Contract, one per asset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" y="4594860"/>
            <a:ext cx="7918704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9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balance{} · kyc_approved{} · status — mint · transfer · freeze · unfreeze · burn · raise_dispute · approve_death_claim, each enforcing its rule on-ledger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823960" y="1828800"/>
            <a:ext cx="2834640" cy="3154680"/>
          </a:xfrm>
          <a:prstGeom prst="roundRect">
            <a:avLst>
              <a:gd name="adj" fmla="val 1935"/>
            </a:avLst>
          </a:prstGeom>
          <a:solidFill>
            <a:srgbClr val="EEF8EE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33688" y="1865376"/>
            <a:ext cx="2615184" cy="1735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2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933688" y="3406140"/>
            <a:ext cx="2615184" cy="15142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/ Transfer / KYC rows + full Audit Trail — mirrors ledger state, every step timestamped and logged, end to end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" y="51206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1, 2, 3, 4, 5 &amp; 7 are enforced by the contract itself on-ledger — not just app code. Rules 6 &amp; 8 stay off-chain by design: identity/back-office checks with no token-custody meaning.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13 — Problem Statement #24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88752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7EFE8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Walkthrough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183112" cy="777240"/>
          </a:xfrm>
          <a:prstGeom prst="roundRect">
            <a:avLst>
              <a:gd name="adj" fmla="val 10588"/>
            </a:avLst>
          </a:prstGeom>
          <a:solidFill>
            <a:srgbClr val="02473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F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DEPLOYED &amp; LIVE RIGHT NOW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frontend-546876428098.asia-south1.run.app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857232" y="17099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9857232" y="17099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2473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 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3593592" cy="1051560"/>
          </a:xfrm>
          <a:prstGeom prst="roundRect">
            <a:avLst>
              <a:gd name="adj" fmla="val 6087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334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2473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60604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3319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authentication — mimics the actual customer-app login experience.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97680" y="2514600"/>
            <a:ext cx="3593592" cy="1051560"/>
          </a:xfrm>
          <a:prstGeom prst="roundRect">
            <a:avLst>
              <a:gd name="adj" fmla="val 6087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6334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24731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60604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Auto-Tokenization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34840" y="3017520"/>
            <a:ext cx="3319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Bank-held assets tokenize automatically; others tokenize via proof upload.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92440" y="2514600"/>
            <a:ext cx="3593592" cy="1051560"/>
          </a:xfrm>
          <a:prstGeom prst="roundRect">
            <a:avLst>
              <a:gd name="adj" fmla="val 6087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6334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2473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0" y="260604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Token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0" y="3017520"/>
            <a:ext cx="3319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mints a new asset; type-aware ownership rules checked automatically.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767328"/>
            <a:ext cx="3593592" cy="1051560"/>
          </a:xfrm>
          <a:prstGeom prst="roundRect">
            <a:avLst>
              <a:gd name="adj" fmla="val 6087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8862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2473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858768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— KYC Gate Live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4270248"/>
            <a:ext cx="3319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 to an unverified buyer is blocked on screen, in real time.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97680" y="3767328"/>
            <a:ext cx="3593592" cy="1051560"/>
          </a:xfrm>
          <a:prstGeom prst="roundRect">
            <a:avLst>
              <a:gd name="adj" fmla="val 6087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34840" y="38862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24731"/>
          </a:solidFill>
          <a:ln/>
        </p:spPr>
      </p:sp>
      <p:sp>
        <p:nvSpPr>
          <p:cNvPr id="32" name="Text 30"/>
          <p:cNvSpPr/>
          <p:nvPr/>
        </p:nvSpPr>
        <p:spPr>
          <a:xfrm>
            <a:off x="44348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92040" y="3858768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Inheritance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34840" y="4270248"/>
            <a:ext cx="3319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sets nominees and inheritance rules on an asset.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92440" y="3767328"/>
            <a:ext cx="3593592" cy="1051560"/>
          </a:xfrm>
          <a:prstGeom prst="roundRect">
            <a:avLst>
              <a:gd name="adj" fmla="val 6087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38862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24731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86800" y="3858768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&amp; Audit Trail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29600" y="4270248"/>
            <a:ext cx="3319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“lost access” request is raised and tracked; every action replays in the audit trail.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5093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85632" y="5111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for every account: </a:t>
            </a:r>
            <a:pPr algn="r" indent="0" marL="0">
              <a:buNone/>
            </a:pPr>
            <a:r>
              <a:rPr lang="en-US" sz="1000" b="1" dirty="0">
                <a:solidFill>
                  <a:srgbClr val="02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5440680"/>
            <a:ext cx="2672334" cy="502920"/>
          </a:xfrm>
          <a:prstGeom prst="roundRect">
            <a:avLst>
              <a:gd name="adj" fmla="val 12727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" y="5532120"/>
            <a:ext cx="320040" cy="320040"/>
          </a:xfrm>
          <a:prstGeom prst="ellipse">
            <a:avLst/>
          </a:prstGeom>
          <a:solidFill>
            <a:srgbClr val="024731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" y="5532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78408" y="5486400"/>
            <a:ext cx="212369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Priyal Agarwal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78408" y="5678424"/>
            <a:ext cx="212369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A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priyal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339846" y="5440680"/>
            <a:ext cx="2672334" cy="502920"/>
          </a:xfrm>
          <a:prstGeom prst="roundRect">
            <a:avLst>
              <a:gd name="adj" fmla="val 12727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31286" y="5532120"/>
            <a:ext cx="320040" cy="320040"/>
          </a:xfrm>
          <a:prstGeom prst="ellipse">
            <a:avLst/>
          </a:prstGeom>
          <a:solidFill>
            <a:srgbClr val="024731"/>
          </a:solidFill>
          <a:ln/>
        </p:spPr>
      </p:sp>
      <p:sp>
        <p:nvSpPr>
          <p:cNvPr id="49" name="Text 47"/>
          <p:cNvSpPr/>
          <p:nvPr/>
        </p:nvSpPr>
        <p:spPr>
          <a:xfrm>
            <a:off x="3431286" y="5532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815334" y="5486400"/>
            <a:ext cx="212369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Sharma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815334" y="5678424"/>
            <a:ext cx="212369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A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176772" y="5440680"/>
            <a:ext cx="2672334" cy="502920"/>
          </a:xfrm>
          <a:prstGeom prst="roundRect">
            <a:avLst>
              <a:gd name="adj" fmla="val 12727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68212" y="5532120"/>
            <a:ext cx="320040" cy="320040"/>
          </a:xfrm>
          <a:prstGeom prst="ellipse">
            <a:avLst/>
          </a:prstGeom>
          <a:solidFill>
            <a:srgbClr val="024731"/>
          </a:solidFill>
          <a:ln/>
        </p:spPr>
      </p:sp>
      <p:sp>
        <p:nvSpPr>
          <p:cNvPr id="54" name="Text 52"/>
          <p:cNvSpPr/>
          <p:nvPr/>
        </p:nvSpPr>
        <p:spPr>
          <a:xfrm>
            <a:off x="6268212" y="5532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652260" y="5486400"/>
            <a:ext cx="212369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Iyer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652260" y="5678424"/>
            <a:ext cx="212369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A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ananya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9013698" y="5440680"/>
            <a:ext cx="2672334" cy="502920"/>
          </a:xfrm>
          <a:prstGeom prst="roundRect">
            <a:avLst>
              <a:gd name="adj" fmla="val 12727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05138" y="5532120"/>
            <a:ext cx="320040" cy="320040"/>
          </a:xfrm>
          <a:prstGeom prst="ellipse">
            <a:avLst/>
          </a:prstGeom>
          <a:solidFill>
            <a:srgbClr val="B8792B"/>
          </a:solidFill>
          <a:ln/>
        </p:spPr>
      </p:sp>
      <p:sp>
        <p:nvSpPr>
          <p:cNvPr id="59" name="Text 57"/>
          <p:cNvSpPr/>
          <p:nvPr/>
        </p:nvSpPr>
        <p:spPr>
          <a:xfrm>
            <a:off x="9105138" y="5532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489186" y="5486400"/>
            <a:ext cx="212369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Admin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489186" y="5678424"/>
            <a:ext cx="212369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A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rm.admin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13 — Problem Statement #24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588752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7EFE8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Accessibility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54396" cy="4206240"/>
          </a:xfrm>
          <a:prstGeom prst="roundRect">
            <a:avLst>
              <a:gd name="adj" fmla="val 1739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837944"/>
            <a:ext cx="5052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Would Love 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167128"/>
            <a:ext cx="5052060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experience mimics the real customer-app flow, not a generic form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journeys for Issue / Transfer / Inherit / Recover, with a status stepper so multi-stage approvals are legible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BankChain Assistant chatbot answers in-flow, scoped only to relevant questions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traces back to a real, working API — nothing is a static mockup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91640"/>
            <a:ext cx="5454396" cy="4206240"/>
          </a:xfrm>
          <a:prstGeom prst="roundRect">
            <a:avLst>
              <a:gd name="adj" fmla="val 1739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2804" y="1837944"/>
            <a:ext cx="5052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Mid-Sprint, Not Bolted On Silently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32804" y="2167128"/>
            <a:ext cx="5052060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Accessibility: aria-pressed on role toggles, aria-label on search/note inputs — fixed and tested this sprint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bearer-token sessions + RM-only route gating added after we found endpoints had none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CORS misconfiguration was found and fixed before this round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Security-by-design is the target; hardening-during-the-sprint is where we honestly started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13 — Problem Statement #24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88752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7EFE8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POTENTIAL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Gaps, Phased Roadmap &amp; Carbon Impact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658618" cy="502920"/>
          </a:xfrm>
          <a:prstGeom prst="roundRect">
            <a:avLst>
              <a:gd name="adj" fmla="val 10909"/>
            </a:avLst>
          </a:prstGeom>
          <a:solidFill>
            <a:srgbClr val="00855D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536192"/>
            <a:ext cx="24391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801368"/>
            <a:ext cx="243916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2658618" cy="1600200"/>
          </a:xfrm>
          <a:prstGeom prst="rect">
            <a:avLst/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84832"/>
            <a:ext cx="2402586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asset lifecycle, on real Universal Ledger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BankChainAsset contract — 6 of 8 rules enforced on-ledger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KMS signing key per ledger account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docs on Cloud Storage, signed URLs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RBAC, hardened mid-sprint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44418" y="1508760"/>
            <a:ext cx="2658618" cy="502920"/>
          </a:xfrm>
          <a:prstGeom prst="roundRect">
            <a:avLst>
              <a:gd name="adj" fmla="val 10909"/>
            </a:avLst>
          </a:prstGeom>
          <a:solidFill>
            <a:srgbClr val="024731"/>
          </a:solidFill>
          <a:ln/>
        </p:spPr>
      </p:sp>
      <p:sp>
        <p:nvSpPr>
          <p:cNvPr id="11" name="Text 9"/>
          <p:cNvSpPr/>
          <p:nvPr/>
        </p:nvSpPr>
        <p:spPr>
          <a:xfrm>
            <a:off x="3454146" y="1536192"/>
            <a:ext cx="24391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4146" y="1801368"/>
            <a:ext cx="243916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44418" y="2011680"/>
            <a:ext cx="2658618" cy="1600200"/>
          </a:xfrm>
          <a:prstGeom prst="rect">
            <a:avLst/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1578" y="2084832"/>
            <a:ext cx="2402586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Multi-AVM valuation engine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risk scoring + thresholds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Oracle-fed live pricing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dashboard for RM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85916" y="1508760"/>
            <a:ext cx="2658618" cy="502920"/>
          </a:xfrm>
          <a:prstGeom prst="roundRect">
            <a:avLst>
              <a:gd name="adj" fmla="val 10909"/>
            </a:avLst>
          </a:prstGeom>
          <a:solidFill>
            <a:srgbClr val="B87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295644" y="1536192"/>
            <a:ext cx="24391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5644" y="1801368"/>
            <a:ext cx="243916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85916" y="2011680"/>
            <a:ext cx="2658618" cy="1600200"/>
          </a:xfrm>
          <a:prstGeom prst="rect">
            <a:avLst/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3076" y="2084832"/>
            <a:ext cx="2402586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between every internal service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secrets vault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&amp; alerting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penetration test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27414" y="1508760"/>
            <a:ext cx="2658618" cy="502920"/>
          </a:xfrm>
          <a:prstGeom prst="roundRect">
            <a:avLst>
              <a:gd name="adj" fmla="val 10909"/>
            </a:avLst>
          </a:prstGeom>
          <a:solidFill>
            <a:srgbClr val="6B7570"/>
          </a:solidFill>
          <a:ln/>
        </p:spPr>
      </p:sp>
      <p:sp>
        <p:nvSpPr>
          <p:cNvPr id="21" name="Text 19"/>
          <p:cNvSpPr/>
          <p:nvPr/>
        </p:nvSpPr>
        <p:spPr>
          <a:xfrm>
            <a:off x="9137142" y="1536192"/>
            <a:ext cx="24391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37142" y="1801368"/>
            <a:ext cx="243916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027414" y="2011680"/>
            <a:ext cx="2658618" cy="1600200"/>
          </a:xfrm>
          <a:prstGeom prst="rect">
            <a:avLst/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64574" y="2084832"/>
            <a:ext cx="2402586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channel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marketplace APIs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banking, custody &amp; payment integration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84048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IMPACT — “A permissioned ledger is not a mining rig”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169664"/>
            <a:ext cx="3605784" cy="685800"/>
          </a:xfrm>
          <a:prstGeom prst="roundRect">
            <a:avLst>
              <a:gd name="adj" fmla="val 10667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315968"/>
            <a:ext cx="3203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proof-of-work, confirmed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" y="4645152"/>
            <a:ext cx="3203448" cy="82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running on real Universal Ledger — BFT-style consensus among known validators, no mining, no hash race.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91584" y="4169664"/>
            <a:ext cx="3605784" cy="685800"/>
          </a:xfrm>
          <a:prstGeom prst="roundRect">
            <a:avLst>
              <a:gd name="adj" fmla="val 10667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2752" y="4315968"/>
            <a:ext cx="3203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≈ a normal microservice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92752" y="4645152"/>
            <a:ext cx="3203448" cy="82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ledger call is one ul-cli transaction, not a GPU farm.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080248" y="4169664"/>
            <a:ext cx="3605784" cy="685800"/>
          </a:xfrm>
          <a:prstGeom prst="roundRect">
            <a:avLst>
              <a:gd name="adj" fmla="val 10667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1416" y="4315968"/>
            <a:ext cx="3203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Digitization is a net positive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81416" y="4645152"/>
            <a:ext cx="3203448" cy="82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paper filings, notarization, and branch-visit overhead entirely.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13 — Problem Statement #24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88752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7EFE8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2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575304" cy="2926080"/>
          </a:xfrm>
          <a:prstGeom prst="roundRect">
            <a:avLst>
              <a:gd name="adj" fmla="val 2500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837944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Visible, Shared Progress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167128"/>
            <a:ext cx="3172968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and features tracked incrementally across the team, not delivered as one big-bang integration. An endpoint-by-endpoint README as the single source of truth.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75304" cy="2926080"/>
          </a:xfrm>
          <a:prstGeom prst="roundRect">
            <a:avLst>
              <a:gd name="adj" fmla="val 2500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837944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Delivery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07992" y="2167128"/>
            <a:ext cx="3172968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arc: core flows first → inheritance/recovery → chatbot → auth hardening → observability → real Universal Ledger + Cloud Storage, on its own branch, merged once proven end-to-end.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10728" y="1691640"/>
            <a:ext cx="3575304" cy="2926080"/>
          </a:xfrm>
          <a:prstGeom prst="roundRect">
            <a:avLst>
              <a:gd name="adj" fmla="val 2500"/>
            </a:avLst>
          </a:prstGeom>
          <a:solidFill>
            <a:srgbClr val="F3F6F3"/>
          </a:solidFill>
          <a:ln w="9525">
            <a:solidFill>
              <a:srgbClr val="DCE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11896" y="1837944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Learn, Fix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1896" y="2167128"/>
            <a:ext cx="3172968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across the backend and rules engine, all green. Found and removed a duplicate, dead rule definition during self-review this week.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13 — Problem Statement #24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88752" y="6528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6F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build next, in order: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87782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024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51460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Multi-AVM valuation + LTV risk engine — now the single biggest gap vs. our own pitch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3474720"/>
            <a:ext cx="87782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02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4747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+ a centralized secrets vault to close the security-by-design gap fully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87782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0247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4348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channel and partner APIs, on top of the Universal Ledger integration we've already shipped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13 — Problem Statement #24, Digital Asset Tokenization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2026-07-29T07:59:57Z</dcterms:created>
  <dcterms:modified xsi:type="dcterms:W3CDTF">2026-07-29T07:59:57Z</dcterms:modified>
</cp:coreProperties>
</file>